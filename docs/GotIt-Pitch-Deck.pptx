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394960" cy="44519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577840" cy="6858000"/>
          </a:xfrm>
          <a:prstGeom prst="rect">
            <a:avLst/>
          </a:prstGeom>
          <a:solidFill>
            <a:srgbClr val="0A0A0B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77840" y="0"/>
            <a:ext cx="822960" cy="6858000"/>
          </a:xfrm>
          <a:prstGeom prst="rect">
            <a:avLst/>
          </a:prstGeom>
          <a:solidFill>
            <a:srgbClr val="0A0A0B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6858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 w="9525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MIDNIGHT NETWORK  ·  PRIVACY-FIRST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5F5F4"/>
                </a:solidFill>
                <a:latin typeface="Calibri"/>
              </a:rPr>
              <a:t>Candor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29000"/>
            <a:ext cx="4663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>
                <a:solidFill>
                  <a:srgbClr val="A1A1AA"/>
                </a:solidFill>
                <a:latin typeface="Calibri"/>
              </a:rPr>
              <a:t>Verified, unlinkable</a:t>
            </a:r>
          </a:p>
          <a:p>
            <a:pPr algn="l">
              <a:lnSpc>
                <a:spcPct val="110000"/>
              </a:lnSpc>
            </a:pPr>
            <a:r>
              <a:rPr sz="2800" b="0">
                <a:solidFill>
                  <a:srgbClr val="A1A1AA"/>
                </a:solidFill>
                <a:latin typeface="Calibri"/>
              </a:rPr>
              <a:t>compensation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1A1A1E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2C55E"/>
                </a:solidFill>
                <a:latin typeface="Calibri"/>
              </a:rPr>
              <a:t>●  LIVE ON PREPROD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Calibri"/>
              </a:rPr>
              <a:t>github.com/PhiBao/candor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ACC1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Salary data is broken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three different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520440" cy="292608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Glassdoor / Levels.fyi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1A1AA"/>
                </a:solidFill>
                <a:latin typeface="Calibri"/>
              </a:rPr>
              <a:t>Self-reported.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4444"/>
                </a:solidFill>
                <a:latin typeface="Calibri"/>
              </a:rPr>
              <a:t>Gameable by employers.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51760"/>
            <a:ext cx="3520440" cy="292608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9260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Blind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61188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1A1AA"/>
                </a:solidFill>
                <a:latin typeface="Calibri"/>
              </a:rPr>
              <a:t>Verified — but tied to a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A1A1AA"/>
                </a:solidFill>
                <a:latin typeface="Calibri"/>
              </a:rPr>
              <a:t>persistent handle.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61772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4444"/>
                </a:solidFill>
                <a:latin typeface="Calibri"/>
              </a:rPr>
              <a:t>Not anonymous.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651760"/>
            <a:ext cx="3520440" cy="292608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Pave / OpenComp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1A1AA"/>
                </a:solidFill>
                <a:latin typeface="Calibri"/>
              </a:rPr>
              <a:t>Verified — but owned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A1A1AA"/>
                </a:solidFill>
                <a:latin typeface="Calibri"/>
              </a:rPr>
              <a:t>by the employer.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1772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F4444"/>
                </a:solidFill>
                <a:latin typeface="Calibri"/>
              </a:rPr>
              <a:t>Workers never see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ACC15"/>
                </a:solidFill>
                <a:latin typeface="Calibri"/>
              </a:rPr>
              <a:t>Without zero-knowledge proofs, “verified” and “unlinkable” are mutually exclusive.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ACC15"/>
                </a:solidFill>
                <a:latin typeface="Calibri"/>
              </a:rPr>
              <a:t>CANDOR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One verified human.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One bucketed contribution. Per epoch.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4640"/>
            <a:ext cx="3520440" cy="1737360"/>
          </a:xfrm>
          <a:prstGeom prst="roundRect">
            <a:avLst>
              <a:gd name="adj" fmla="val 10000"/>
            </a:avLst>
          </a:prstGeom>
          <a:solidFill>
            <a:srgbClr val="1A1A1E"/>
          </a:solidFill>
          <a:ln w="1524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ACC15"/>
                </a:solidFill>
                <a:latin typeface="Calibri"/>
              </a:rPr>
              <a:t>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Calibri"/>
              </a:rPr>
              <a:t>work email, one human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834640"/>
            <a:ext cx="3520440" cy="1737360"/>
          </a:xfrm>
          <a:prstGeom prst="roundRect">
            <a:avLst>
              <a:gd name="adj" fmla="val 10000"/>
            </a:avLst>
          </a:prstGeom>
          <a:solidFill>
            <a:srgbClr val="1A1A1E"/>
          </a:solidFill>
          <a:ln w="1524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154680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ACC15"/>
                </a:solidFill>
                <a:latin typeface="Calibri"/>
              </a:rPr>
              <a:t>UNLINKABLE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84048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Calibri"/>
              </a:rPr>
              <a:t>secret never leaves your 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834640"/>
            <a:ext cx="3520440" cy="1737360"/>
          </a:xfrm>
          <a:prstGeom prst="roundRect">
            <a:avLst>
              <a:gd name="adj" fmla="val 10000"/>
            </a:avLst>
          </a:prstGeom>
          <a:solidFill>
            <a:srgbClr val="1A1A1E"/>
          </a:solidFill>
          <a:ln w="1524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154680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ACC15"/>
                </a:solidFill>
                <a:latin typeface="Calibri"/>
              </a:rPr>
              <a:t>AGGREGATE-ONLY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384048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Calibri"/>
              </a:rPr>
              <a:t>distributions, never records</a:t>
            </a:r>
          </a:p>
        </p:txBody>
      </p:sp>
      <p:pic>
        <p:nvPicPr>
          <p:cNvPr id="14" name="Picture 13" descr="5-percen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26280"/>
            <a:ext cx="3520440" cy="2228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7720" y="4800600"/>
            <a:ext cx="6675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5F5F4"/>
                </a:solidFill>
                <a:latin typeface="Calibri"/>
              </a:rPr>
              <a:t>The moment you came for: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F5F5F4"/>
                </a:solidFill>
                <a:latin typeface="Calibri"/>
              </a:rPr>
              <a:t>your percentile — from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F5F5F4"/>
                </a:solidFill>
                <a:latin typeface="Calibri"/>
              </a:rPr>
              <a:t>verified data, anonymously.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ACC15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Four steps. Your salary never leaves your device.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69748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ACC15"/>
                </a:solidFill>
                <a:latin typeface="Calibri"/>
              </a:rPr>
              <a:t>1 ·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00400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work email →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membership leaf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5146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269748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ACC15"/>
                </a:solidFill>
                <a:latin typeface="Calibri"/>
              </a:rPr>
              <a:t>2 · DESCRIBE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3200400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role, level, salary —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bucketed locally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5146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69748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ACC15"/>
                </a:solidFill>
                <a:latin typeface="Calibri"/>
              </a:rPr>
              <a:t>3 ·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3200400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zero-knowledge proof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generated in your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25146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69748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ACC15"/>
                </a:solidFill>
                <a:latin typeface="Calibri"/>
              </a:rPr>
              <a:t>4 ·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200400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one bucket increments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A1A1AA"/>
                </a:solidFill>
                <a:latin typeface="Calibri"/>
              </a:rPr>
              <a:t>on-chain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5F4"/>
                </a:solidFill>
                <a:latin typeface="Calibri"/>
              </a:rPr>
              <a:t>Enforced by the circuit: one contribution per verified person per epoch.</a:t>
            </a:r>
          </a:p>
        </p:txBody>
      </p:sp>
      <p:pic>
        <p:nvPicPr>
          <p:cNvPr id="18" name="Picture 17" descr="4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4343400"/>
            <a:ext cx="388620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ACC15"/>
                </a:solidFill>
                <a:latin typeface="Calibr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Built privacy-first,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by constraint.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5577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Proof on your 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90088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Hosted proving is rejected — the witness is your salary.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577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Only two numbers go on-chain.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50208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A cut key and a bucket index. Nothing else.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5577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Histograms, never sums.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10328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Deltas reveal a bucket — never an exact value. Regression-tested.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5577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F5F4"/>
                </a:solidFill>
                <a:latin typeface="Calibri"/>
              </a:rPr>
              <a:t>Epoch nullifiers.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70448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One contribution per person per epoch. Spam is cryptographically impossible.</a:t>
            </a:r>
          </a:p>
        </p:txBody>
      </p:sp>
      <p:pic>
        <p:nvPicPr>
          <p:cNvPr id="13" name="Picture 12" descr="4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77440"/>
            <a:ext cx="5029200" cy="31432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0080" y="5989320"/>
            <a:ext cx="5303520" cy="402336"/>
          </a:xfrm>
          <a:prstGeom prst="roundRect">
            <a:avLst>
              <a:gd name="adj" fmla="val 50000"/>
            </a:avLst>
          </a:prstGeom>
          <a:solidFill>
            <a:srgbClr val="1A1A1E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5F5F4"/>
                </a:solidFill>
                <a:latin typeface="Calibri"/>
              </a:rPr>
              <a:t>k ≥ 5  ·  cuts stay locked until the crowd fills them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LIVE  ·  PREPROD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Live on Midnight Preprod.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1A1A1E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2C55E"/>
                </a:solidFill>
                <a:latin typeface="Calibri"/>
              </a:rPr>
              <a:t>●  DEPLOYED + END-TO-END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1A1AA"/>
                </a:solidFill>
                <a:latin typeface="Calibri"/>
              </a:rPr>
              <a:t>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ACC15"/>
                </a:solidFill>
                <a:latin typeface="Calibri"/>
              </a:rPr>
              <a:t>e7cf6ffc48eb…c21dd53d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—  Deploy → enroll → contribute, all real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—  Public cut pages — free to read, no wallet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—  Issuer console: enrollment + epoch advancement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—  13 circuit tests incl. privacy regression</a:t>
            </a:r>
          </a:p>
        </p:txBody>
      </p:sp>
      <p:pic>
        <p:nvPicPr>
          <p:cNvPr id="12" name="Picture 11" descr="2-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317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ACC15"/>
                </a:solidFill>
                <a:latin typeface="Calibr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Free for workers.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Companies pay for the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ACC15"/>
                </a:solidFill>
                <a:latin typeface="Calibri"/>
              </a:rPr>
              <a:t>The wedge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Crypto-native ICs — already run Lace, paid in tokens,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invisible to every existing tool.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Reachable: Midnight &amp; Cardano Discords, Farcaster, crypto 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743200"/>
            <a:ext cx="5257800" cy="2651760"/>
          </a:xfrm>
          <a:prstGeom prst="roundRect">
            <a:avLst>
              <a:gd name="adj" fmla="val 6000"/>
            </a:avLst>
          </a:prstGeom>
          <a:solidFill>
            <a:srgbClr val="1A1A1E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30175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ACC15"/>
                </a:solidFill>
                <a:latin typeface="Calibri"/>
              </a:rPr>
              <a:t>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566160"/>
            <a:ext cx="47548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Workers: free forever — give-to-get unlocks deeper cuts.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Companies &amp; DAOs: cut access, pay-band analytics,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5F5F4"/>
                </a:solidFill>
                <a:latin typeface="Calibri"/>
              </a:rPr>
              <a:t>compliance-grade aggregates.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1A1AA"/>
                </a:solidFill>
                <a:latin typeface="Calibri"/>
              </a:rPr>
              <a:t>Growth loop: data goes stale quarterly → natural re-contribution → more cuts unlock → more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ACC15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Roadmap — Trusted slice to trustless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7889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A0A0B"/>
                </a:solidFill>
                <a:latin typeface="Calibri"/>
              </a:rPr>
              <a:t>✓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C55E"/>
                </a:solidFill>
                <a:latin typeface="Calibri"/>
              </a:rPr>
              <a:t>WAVE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5F5F4"/>
                </a:solidFill>
                <a:latin typeface="Calibri"/>
              </a:rPr>
              <a:t>The trusted slice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Live on Preprod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1032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15 cuts · k ≥ 5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85816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One seeded community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56032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1728" y="27889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 w="9525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5F5F4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3375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ACC15"/>
                </a:solidFill>
                <a:latin typeface="Calibri"/>
              </a:rPr>
              <a:t>WAVE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5F5F4"/>
                </a:solidFill>
                <a:latin typeface="Calibri"/>
              </a:rPr>
              <a:t>Trustless membership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44348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ZK Merkle — no leaf disclosure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491032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Issuer federation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5385816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Historical epochs · trends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74736" y="256032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49056" y="27889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A1A1AA"/>
          </a:solidFill>
          <a:ln w="9525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5F5F4"/>
                </a:solidFill>
                <a:latin typeface="Calibri"/>
              </a:rPr>
              <a:t>LATER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3375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1A1AA"/>
                </a:solidFill>
                <a:latin typeface="Calibri"/>
              </a:rPr>
              <a:t>WAVE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5F5F4"/>
                </a:solidFill>
                <a:latin typeface="Calibri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6" y="44348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Mobile (prove from a phone)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491032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zkEmail — no trusted issuer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5385816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·  Employer surface · token comp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 w="9525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Every salary shared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5F5F4"/>
                </a:solidFill>
                <a:latin typeface="Calibri"/>
              </a:rPr>
              <a:t>makes the next one safer to share.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931920"/>
            <a:ext cx="3291840" cy="420624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 w="9525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A0A0B"/>
                </a:solidFill>
                <a:latin typeface="Calibri"/>
              </a:rPr>
              <a:t>ASK · SEED ONE REAL EPOCH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1A1AA"/>
                </a:solidFill>
                <a:latin typeface="Calibri"/>
              </a:rPr>
              <a:t>github.com/PhiBao/candor   ·   Built on Midnight Network   ·   Apache-2.0</a:t>
            </a:r>
          </a:p>
        </p:txBody>
      </p:sp>
      <p:pic>
        <p:nvPicPr>
          <p:cNvPr id="7" name="Picture 6" descr="5-percen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822960"/>
            <a:ext cx="429768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